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8" r:id="rId1"/>
  </p:sldMasterIdLst>
  <p:notesMasterIdLst>
    <p:notesMasterId r:id="rId10"/>
  </p:notesMasterIdLst>
  <p:sldIdLst>
    <p:sldId id="256" r:id="rId2"/>
    <p:sldId id="273" r:id="rId3"/>
    <p:sldId id="258" r:id="rId4"/>
    <p:sldId id="257" r:id="rId5"/>
    <p:sldId id="259" r:id="rId6"/>
    <p:sldId id="271" r:id="rId7"/>
    <p:sldId id="272" r:id="rId8"/>
    <p:sldId id="270" r:id="rId9"/>
  </p:sldIdLst>
  <p:sldSz cx="18288000" cy="10287000"/>
  <p:notesSz cx="6858000" cy="9144000"/>
  <p:embeddedFontLst>
    <p:embeddedFont>
      <p:font typeface="DM Sans" panose="020B0604020202020204" charset="0"/>
      <p:regular r:id="rId11"/>
      <p:bold r:id="rId12"/>
      <p:italic r:id="rId13"/>
      <p:boldItalic r:id="rId14"/>
    </p:embeddedFont>
    <p:embeddedFont>
      <p:font typeface="Elephant" panose="02020904090505020303" pitchFamily="18" charset="0"/>
      <p:regular r:id="rId15"/>
      <p:italic r:id="rId16"/>
    </p:embeddedFont>
    <p:embeddedFont>
      <p:font typeface="Trebuchet MS" panose="020B0603020202020204" pitchFamily="34" charset="0"/>
      <p:regular r:id="rId17"/>
      <p:bold r:id="rId18"/>
      <p:italic r:id="rId19"/>
      <p:boldItalic r:id="rId20"/>
    </p:embeddedFont>
    <p:embeddedFont>
      <p:font typeface="Wingdings 2" panose="05020102010507070707" pitchFamily="18" charset="2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E0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73" autoAdjust="0"/>
  </p:normalViewPr>
  <p:slideViewPr>
    <p:cSldViewPr snapToGrid="0">
      <p:cViewPr varScale="1">
        <p:scale>
          <a:sx n="34" d="100"/>
          <a:sy n="34" d="100"/>
        </p:scale>
        <p:origin x="96" y="3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>
          <a:extLst>
            <a:ext uri="{FF2B5EF4-FFF2-40B4-BE49-F238E27FC236}">
              <a16:creationId xmlns:a16="http://schemas.microsoft.com/office/drawing/2014/main" id="{3F18BF50-7D37-A1A5-0591-5AE69FA87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1:notes">
            <a:extLst>
              <a:ext uri="{FF2B5EF4-FFF2-40B4-BE49-F238E27FC236}">
                <a16:creationId xmlns:a16="http://schemas.microsoft.com/office/drawing/2014/main" id="{BFEF99DA-B384-441A-953A-30A13D6ADA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1:notes">
            <a:extLst>
              <a:ext uri="{FF2B5EF4-FFF2-40B4-BE49-F238E27FC236}">
                <a16:creationId xmlns:a16="http://schemas.microsoft.com/office/drawing/2014/main" id="{58163EDC-ADBB-1CC1-8613-2AF2440734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76598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H="1">
            <a:off x="5334000" y="0"/>
            <a:ext cx="12954000" cy="10287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63284" tIns="81642" rIns="163284" bIns="81642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16200000">
            <a:off x="190500" y="5143500"/>
            <a:ext cx="10287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163284" tIns="81642" rIns="163284" bIns="81642" anchor="t" compatLnSpc="1"/>
          <a:lstStyle/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6733736" y="800100"/>
            <a:ext cx="10210800" cy="4302252"/>
          </a:xfrm>
        </p:spPr>
        <p:txBody>
          <a:bodyPr lIns="81642" tIns="0" rIns="81642">
            <a:noAutofit/>
          </a:bodyPr>
          <a:lstStyle>
            <a:lvl1pPr algn="r">
              <a:defRPr sz="7500"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6708884" y="5309796"/>
            <a:ext cx="10229556" cy="1651872"/>
          </a:xfrm>
        </p:spPr>
        <p:txBody>
          <a:bodyPr lIns="81642" tIns="0" rIns="81642" bIns="0"/>
          <a:lstStyle>
            <a:lvl1pPr marL="0" indent="0" algn="r">
              <a:buNone/>
              <a:defRPr sz="3900">
                <a:solidFill>
                  <a:srgbClr val="FFFFFF"/>
                </a:solidFill>
                <a:effectLst/>
              </a:defRPr>
            </a:lvl1pPr>
            <a:lvl2pPr marL="816422" indent="0" algn="ctr">
              <a:buNone/>
            </a:lvl2pPr>
            <a:lvl3pPr marL="1632844" indent="0" algn="ctr">
              <a:buNone/>
            </a:lvl3pPr>
            <a:lvl4pPr marL="2449266" indent="0" algn="ctr">
              <a:buNone/>
            </a:lvl4pPr>
            <a:lvl5pPr marL="3265688" indent="0" algn="ctr">
              <a:buNone/>
            </a:lvl5pPr>
            <a:lvl6pPr marL="4082110" indent="0" algn="ctr">
              <a:buNone/>
            </a:lvl6pPr>
            <a:lvl7pPr marL="4898532" indent="0" algn="ctr">
              <a:buNone/>
            </a:lvl7pPr>
            <a:lvl8pPr marL="5714954" indent="0" algn="ctr">
              <a:buNone/>
            </a:lvl8pPr>
            <a:lvl9pPr marL="6531376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>
          <a:xfrm>
            <a:off x="11742448" y="9836919"/>
            <a:ext cx="4004928" cy="340353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5638800" y="9836919"/>
            <a:ext cx="5855444" cy="3429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5761768" y="9834372"/>
            <a:ext cx="1176672" cy="3429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4232756"/>
            <a:ext cx="12510976" cy="2043113"/>
          </a:xfrm>
        </p:spPr>
        <p:txBody>
          <a:bodyPr tIns="0" anchor="t"/>
          <a:lstStyle>
            <a:lvl1pPr algn="r">
              <a:buNone/>
              <a:defRPr sz="75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3600" y="2857501"/>
            <a:ext cx="12510976" cy="1115261"/>
          </a:xfrm>
        </p:spPr>
        <p:txBody>
          <a:bodyPr anchor="b"/>
          <a:lstStyle>
            <a:lvl1pPr marL="0" indent="0" algn="r">
              <a:buNone/>
              <a:defRPr sz="3600">
                <a:solidFill>
                  <a:schemeClr val="tx1"/>
                </a:solidFill>
                <a:effectLst/>
              </a:defRPr>
            </a:lvl1pPr>
            <a:lvl2pPr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29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448476" y="9835215"/>
            <a:ext cx="4004928" cy="340353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70716" y="9835215"/>
            <a:ext cx="5791200" cy="3429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3467904" y="9832668"/>
            <a:ext cx="1176672" cy="342900"/>
          </a:xfrm>
        </p:spPr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0060"/>
            <a:ext cx="14484096" cy="17145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1"/>
            <a:ext cx="7040880" cy="6788945"/>
          </a:xfrm>
        </p:spPr>
        <p:txBody>
          <a:bodyPr anchor="t"/>
          <a:lstStyle>
            <a:lvl1pPr>
              <a:defRPr sz="5000"/>
            </a:lvl1pPr>
            <a:lvl2pPr>
              <a:defRPr sz="43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57616" y="2400301"/>
            <a:ext cx="7040880" cy="6788945"/>
          </a:xfrm>
        </p:spPr>
        <p:txBody>
          <a:bodyPr anchor="t"/>
          <a:lstStyle>
            <a:lvl1pPr>
              <a:defRPr sz="5000"/>
            </a:lvl1pPr>
            <a:lvl2pPr>
              <a:defRPr sz="43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0060"/>
            <a:ext cx="14484096" cy="17145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8801100"/>
            <a:ext cx="7040880" cy="6858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3200" b="1">
                <a:solidFill>
                  <a:schemeClr val="tx2"/>
                </a:solidFill>
                <a:effectLst/>
              </a:defRPr>
            </a:lvl1pPr>
            <a:lvl2pPr>
              <a:buNone/>
              <a:defRPr sz="3600" b="1"/>
            </a:lvl2pPr>
            <a:lvl3pPr>
              <a:buNone/>
              <a:defRPr sz="3200" b="1"/>
            </a:lvl3pPr>
            <a:lvl4pPr>
              <a:buNone/>
              <a:defRPr sz="2900" b="1"/>
            </a:lvl4pPr>
            <a:lvl5pPr>
              <a:buNone/>
              <a:defRPr sz="29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8357616" y="8801100"/>
            <a:ext cx="7040880" cy="6858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3200" b="1">
                <a:solidFill>
                  <a:schemeClr val="tx2"/>
                </a:solidFill>
                <a:effectLst/>
              </a:defRPr>
            </a:lvl1pPr>
            <a:lvl2pPr>
              <a:buNone/>
              <a:defRPr sz="3600" b="1"/>
            </a:lvl2pPr>
            <a:lvl3pPr>
              <a:buNone/>
              <a:defRPr sz="3200" b="1"/>
            </a:lvl3pPr>
            <a:lvl4pPr>
              <a:buNone/>
              <a:defRPr sz="2900" b="1"/>
            </a:lvl4pPr>
            <a:lvl5pPr>
              <a:buNone/>
              <a:defRPr sz="29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914400" y="2567760"/>
            <a:ext cx="7040880" cy="6172200"/>
          </a:xfrm>
        </p:spPr>
        <p:txBody>
          <a:bodyPr/>
          <a:lstStyle>
            <a:lvl1pPr>
              <a:defRPr sz="4300"/>
            </a:lvl1pPr>
            <a:lvl2pPr>
              <a:defRPr sz="3600"/>
            </a:lvl2pPr>
            <a:lvl3pPr>
              <a:defRPr sz="3200"/>
            </a:lvl3pPr>
            <a:lvl4pPr>
              <a:defRPr sz="2900"/>
            </a:lvl4pPr>
            <a:lvl5pPr>
              <a:defRPr sz="29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357616" y="2567760"/>
            <a:ext cx="7040880" cy="6172200"/>
          </a:xfrm>
        </p:spPr>
        <p:txBody>
          <a:bodyPr/>
          <a:lstStyle>
            <a:lvl1pPr>
              <a:defRPr sz="4300"/>
            </a:lvl1pPr>
            <a:lvl2pPr>
              <a:defRPr sz="3600"/>
            </a:lvl2pPr>
            <a:lvl3pPr>
              <a:defRPr sz="3200"/>
            </a:lvl3pPr>
            <a:lvl4pPr>
              <a:defRPr sz="2900"/>
            </a:lvl4pPr>
            <a:lvl5pPr>
              <a:defRPr sz="29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0060"/>
            <a:ext cx="14484096" cy="17145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42900"/>
            <a:ext cx="11795760" cy="1760220"/>
          </a:xfrm>
        </p:spPr>
        <p:txBody>
          <a:bodyPr wrap="square" anchor="b"/>
          <a:lstStyle>
            <a:lvl1pPr algn="l">
              <a:buNone/>
              <a:defRPr lang="en-US" sz="4300" baseline="0" smtClean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2246124"/>
            <a:ext cx="11795760" cy="903768"/>
          </a:xfrm>
        </p:spPr>
        <p:txBody>
          <a:bodyPr rot="0" spcFirstLastPara="0" vertOverflow="overflow" horzOverflow="overflow" vert="horz" wrap="square" lIns="81642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3200400"/>
            <a:ext cx="14478000" cy="6557628"/>
          </a:xfrm>
        </p:spPr>
        <p:txBody>
          <a:bodyPr/>
          <a:lstStyle>
            <a:lvl1pPr>
              <a:defRPr sz="5700"/>
            </a:lvl1pPr>
            <a:lvl2pPr>
              <a:defRPr sz="5000"/>
            </a:lvl2pPr>
            <a:lvl3pPr>
              <a:defRPr sz="4300"/>
            </a:lvl3pPr>
            <a:lvl4pPr>
              <a:defRPr sz="3600"/>
            </a:lvl4pPr>
            <a:lvl5pPr>
              <a:defRPr sz="3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21240000">
            <a:off x="1195937" y="1507003"/>
            <a:ext cx="8639054" cy="6468860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3284" tIns="81642" rIns="163284" bIns="81642"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 rot="21420000">
            <a:off x="1193413" y="1498225"/>
            <a:ext cx="8639054" cy="6468860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3284" tIns="81642" rIns="163284" bIns="81642"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78196" y="1714500"/>
            <a:ext cx="6858000" cy="3086100"/>
          </a:xfrm>
        </p:spPr>
        <p:txBody>
          <a:bodyPr vert="horz" anchor="b"/>
          <a:lstStyle>
            <a:lvl1pPr algn="l">
              <a:buNone/>
              <a:defRPr sz="54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78196" y="4925451"/>
            <a:ext cx="6858000" cy="2880360"/>
          </a:xfrm>
        </p:spPr>
        <p:txBody>
          <a:bodyPr rot="0" spcFirstLastPara="0" vertOverflow="overflow" horzOverflow="overflow" vert="horz" wrap="square" lIns="14695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500" baseline="0">
                <a:solidFill>
                  <a:schemeClr val="tx1"/>
                </a:solidFill>
              </a:defRPr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1327364" y="1561503"/>
            <a:ext cx="8412480" cy="630936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57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106400" y="412433"/>
            <a:ext cx="3048000" cy="8777288"/>
          </a:xfrm>
        </p:spPr>
        <p:txBody>
          <a:bodyPr vert="eaVert" anchor="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64"/>
            <a:ext cx="12039600" cy="8777288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485632" y="9836919"/>
            <a:ext cx="4004928" cy="340353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9834372"/>
            <a:ext cx="7315200" cy="3429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508992" y="9829800"/>
            <a:ext cx="1176672" cy="342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flipH="1">
            <a:off x="16306800" y="0"/>
            <a:ext cx="1981200" cy="102870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63284" tIns="81642" rIns="163284" bIns="81642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914400" y="480060"/>
            <a:ext cx="14478000" cy="1714500"/>
          </a:xfrm>
          <a:prstGeom prst="rect">
            <a:avLst/>
          </a:prstGeom>
        </p:spPr>
        <p:txBody>
          <a:bodyPr vert="horz" lIns="81642" tIns="0" rIns="81642" bIns="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idx="1"/>
          </p:nvPr>
        </p:nvSpPr>
        <p:spPr>
          <a:xfrm>
            <a:off x="914400" y="2414124"/>
            <a:ext cx="14478000" cy="7269480"/>
          </a:xfrm>
          <a:prstGeom prst="rect">
            <a:avLst/>
          </a:prstGeom>
        </p:spPr>
        <p:txBody>
          <a:bodyPr vert="horz" lIns="163284" tIns="81642" rIns="163284" bIns="81642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2"/>
          </p:nvPr>
        </p:nvSpPr>
        <p:spPr>
          <a:xfrm>
            <a:off x="8491872" y="9836919"/>
            <a:ext cx="4004928" cy="340353"/>
          </a:xfrm>
          <a:prstGeom prst="rect">
            <a:avLst/>
          </a:prstGeom>
        </p:spPr>
        <p:txBody>
          <a:bodyPr vert="horz" lIns="163284" tIns="0" rIns="163284" bIns="0" anchor="b"/>
          <a:lstStyle>
            <a:lvl1pPr algn="l" eaLnBrk="1" latinLnBrk="0" hangingPunct="1">
              <a:defRPr kumimoji="0" sz="18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914400" y="9836919"/>
            <a:ext cx="7315200" cy="342900"/>
          </a:xfrm>
          <a:prstGeom prst="rect">
            <a:avLst/>
          </a:prstGeom>
        </p:spPr>
        <p:txBody>
          <a:bodyPr vert="horz" lIns="163284" tIns="0" rIns="163284" bIns="0" anchor="b"/>
          <a:lstStyle>
            <a:lvl1pPr algn="r" eaLnBrk="1" latinLnBrk="0" hangingPunct="1">
              <a:defRPr kumimoji="0" sz="18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12502896" y="9834372"/>
            <a:ext cx="1176672" cy="3429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2000">
                <a:solidFill>
                  <a:schemeClr val="tx2"/>
                </a:solidFill>
              </a:defRPr>
            </a:lvl1pPr>
            <a:extLst/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6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489853" indent="-489853" algn="l" rtl="0" eaLnBrk="1" latinLnBrk="0" hangingPunct="1">
        <a:spcBef>
          <a:spcPts val="1071"/>
        </a:spcBef>
        <a:buClr>
          <a:schemeClr val="tx2"/>
        </a:buClr>
        <a:buSzPct val="73000"/>
        <a:buFont typeface="Wingdings 2"/>
        <a:buChar char=""/>
        <a:defRPr kumimoji="0" sz="4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930721" indent="-408211" algn="l" rtl="0" eaLnBrk="1" latinLnBrk="0" hangingPunct="1">
        <a:spcBef>
          <a:spcPts val="893"/>
        </a:spcBef>
        <a:buClr>
          <a:schemeClr val="accent4"/>
        </a:buClr>
        <a:buSzPct val="80000"/>
        <a:buFont typeface="Wingdings 2"/>
        <a:buChar char=""/>
        <a:defRPr kumimoji="0" sz="41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1355261" indent="-408211" algn="l" rtl="0" eaLnBrk="1" latinLnBrk="0" hangingPunct="1">
        <a:spcBef>
          <a:spcPts val="714"/>
        </a:spcBef>
        <a:buClr>
          <a:schemeClr val="accent4"/>
        </a:buClr>
        <a:buSzPct val="60000"/>
        <a:buFont typeface="Wingdings"/>
        <a:buChar char=""/>
        <a:defRPr kumimoji="0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1796128" indent="-408211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36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2285982" indent="-408211" algn="l" rtl="0" eaLnBrk="1" latinLnBrk="0" hangingPunct="1">
        <a:spcBef>
          <a:spcPts val="714"/>
        </a:spcBef>
        <a:buClr>
          <a:schemeClr val="accent4"/>
        </a:buClr>
        <a:buSzPct val="70000"/>
        <a:buFont typeface="Wingdings"/>
        <a:buChar char="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2628879" indent="-326569" algn="l" rtl="0" eaLnBrk="1" latinLnBrk="0" hangingPunct="1">
        <a:spcBef>
          <a:spcPts val="714"/>
        </a:spcBef>
        <a:buClr>
          <a:schemeClr val="accent4"/>
        </a:buClr>
        <a:buSzPct val="80000"/>
        <a:buFont typeface="Wingdings 2"/>
        <a:buChar char=""/>
        <a:defRPr kumimoji="0" sz="32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2988105" indent="-326569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29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98345" indent="-326569" algn="l" rtl="0" eaLnBrk="1" latinLnBrk="0" hangingPunct="1">
        <a:spcBef>
          <a:spcPts val="536"/>
        </a:spcBef>
        <a:buClr>
          <a:schemeClr val="accent4"/>
        </a:buClr>
        <a:buSzPct val="100000"/>
        <a:buChar char="•"/>
        <a:defRPr kumimoji="0" sz="29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3673899" indent="-326569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25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81642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63284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244926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326568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408211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489853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571495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653137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python/scientific-gui-calculator-using-tkinter-in-python/" TargetMode="External"/><Relationship Id="rId7" Type="http://schemas.openxmlformats.org/officeDocument/2006/relationships/hyperlink" Target="https://www.youtube.com/watch?v=glN87rNH0L8" TargetMode="External"/><Relationship Id="rId2" Type="http://schemas.openxmlformats.org/officeDocument/2006/relationships/hyperlink" Target="https://www.geeksforgeeks.org/python/python-simple-gui-calculator-using-tkinter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pythonguis.com/examples/currency-converter-tkinter/?utm_source=chatgpt.com" TargetMode="External"/><Relationship Id="rId5" Type="http://schemas.openxmlformats.org/officeDocument/2006/relationships/hyperlink" Target="https://www.freecodecamp.org/news/how-to-build-a-currency-converter-gui-with-tkinter/?utm_source=chatgpt.com" TargetMode="External"/><Relationship Id="rId4" Type="http://schemas.openxmlformats.org/officeDocument/2006/relationships/hyperlink" Target="https://dev.to/spiff/calculator-with-gui-using-python-tkinter-jpn?utm_source=chatgpt.com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"/>
          <p:cNvSpPr txBox="1"/>
          <p:nvPr/>
        </p:nvSpPr>
        <p:spPr>
          <a:xfrm>
            <a:off x="11453806" y="8718086"/>
            <a:ext cx="3375660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2700" dirty="0">
                <a:solidFill>
                  <a:srgbClr val="FFFFFF"/>
                </a:solidFill>
                <a:latin typeface="DM Sans"/>
                <a:sym typeface="DM Sans"/>
              </a:rPr>
              <a:t>ALVIN  FREDRICK</a:t>
            </a:r>
            <a:endParaRPr dirty="0"/>
          </a:p>
        </p:txBody>
      </p:sp>
      <p:cxnSp>
        <p:nvCxnSpPr>
          <p:cNvPr id="101" name="Google Shape;101;p13"/>
          <p:cNvCxnSpPr/>
          <p:nvPr/>
        </p:nvCxnSpPr>
        <p:spPr>
          <a:xfrm>
            <a:off x="8011590" y="8476736"/>
            <a:ext cx="5986748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2" name="Google Shape;102;p13"/>
          <p:cNvCxnSpPr>
            <a:cxnSpLocks/>
          </p:cNvCxnSpPr>
          <p:nvPr/>
        </p:nvCxnSpPr>
        <p:spPr>
          <a:xfrm>
            <a:off x="3915792" y="1529921"/>
            <a:ext cx="7032368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5" name="Google Shape;105;p13"/>
          <p:cNvSpPr txBox="1"/>
          <p:nvPr/>
        </p:nvSpPr>
        <p:spPr>
          <a:xfrm>
            <a:off x="1255086" y="793645"/>
            <a:ext cx="596907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/>
            <a:r>
              <a:rPr lang="en-US" sz="3600" b="1" dirty="0">
                <a:solidFill>
                  <a:srgbClr val="41E0F1"/>
                </a:solidFill>
                <a:latin typeface="Elephant" panose="02020904090505020303" pitchFamily="18" charset="0"/>
                <a:ea typeface="Fira Code"/>
                <a:cs typeface="Fira Code"/>
                <a:sym typeface="Fira Code"/>
              </a:rPr>
              <a:t>Next Hikes IT Solutions</a:t>
            </a:r>
            <a:endParaRPr sz="2300" dirty="0">
              <a:solidFill>
                <a:srgbClr val="41E0F1"/>
              </a:solidFill>
              <a:latin typeface="Elephant" panose="02020904090505020303" pitchFamily="18" charset="0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1521715" y="3174163"/>
            <a:ext cx="13780774" cy="2954655"/>
          </a:xfrm>
          <a:prstGeom prst="rect">
            <a:avLst/>
          </a:prstGeom>
          <a:solidFill>
            <a:schemeClr val="tx1"/>
          </a:solidFill>
          <a:ln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IN" sz="9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Advanced Calculator – Python </a:t>
            </a:r>
            <a:r>
              <a:rPr lang="en-IN" sz="96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Tkinter</a:t>
            </a:r>
            <a:endParaRPr lang="en-IN" sz="7100" b="1" dirty="0">
              <a:solidFill>
                <a:schemeClr val="tx2">
                  <a:lumMod val="60000"/>
                  <a:lumOff val="40000"/>
                </a:schemeClr>
              </a:solidFill>
              <a:latin typeface="Elephant" panose="02020904090505020303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FC8463-4D0D-7FE4-7ECC-B1A500D3E1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82" t="30096" r="69222" b="32100"/>
          <a:stretch/>
        </p:blipFill>
        <p:spPr>
          <a:xfrm>
            <a:off x="0" y="125561"/>
            <a:ext cx="1419640" cy="1435178"/>
          </a:xfrm>
          <a:prstGeom prst="rect">
            <a:avLst/>
          </a:prstGeom>
        </p:spPr>
      </p:pic>
      <p:pic>
        <p:nvPicPr>
          <p:cNvPr id="9" name="Image 0" descr="/pptIcons/MailOutlined.sv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881360" y="9410052"/>
            <a:ext cx="438912" cy="438912"/>
          </a:xfrm>
          <a:prstGeom prst="rect">
            <a:avLst/>
          </a:prstGeom>
        </p:spPr>
      </p:pic>
      <p:pic>
        <p:nvPicPr>
          <p:cNvPr id="10" name="Image 1" descr="/pptIcons/ProfileOutlined.sv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881360" y="8848344"/>
            <a:ext cx="438912" cy="43891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1453806" y="9347507"/>
            <a:ext cx="4713474" cy="5640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sz="2400" b="1" dirty="0">
                <a:solidFill>
                  <a:srgbClr val="FFFFFF"/>
                </a:solidFill>
                <a:latin typeface="DM Sans"/>
                <a:sym typeface="DM Sans"/>
              </a:rPr>
              <a:t>Alvin.frederick94@gmai.com</a:t>
            </a:r>
            <a:endParaRPr lang="en-US" sz="2400" b="1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79ADBAA-4264-4A6D-B93A-BA29F3983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219" y="1873405"/>
            <a:ext cx="12287515" cy="80181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03B9A3-33E8-4FED-8758-DB96E4E792B3}"/>
              </a:ext>
            </a:extLst>
          </p:cNvPr>
          <p:cNvSpPr txBox="1"/>
          <p:nvPr/>
        </p:nvSpPr>
        <p:spPr>
          <a:xfrm>
            <a:off x="379141" y="401444"/>
            <a:ext cx="1552249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800" dirty="0">
                <a:solidFill>
                  <a:srgbClr val="41E0F1"/>
                </a:solidFill>
              </a:rPr>
              <a:t>Graphical User Interface (GUI) </a:t>
            </a:r>
          </a:p>
        </p:txBody>
      </p:sp>
    </p:spTree>
    <p:extLst>
      <p:ext uri="{BB962C8B-B14F-4D97-AF65-F5344CB8AC3E}">
        <p14:creationId xmlns:p14="http://schemas.microsoft.com/office/powerpoint/2010/main" val="39929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0" name="Google Shape;140;p15"/>
          <p:cNvCxnSpPr/>
          <p:nvPr/>
        </p:nvCxnSpPr>
        <p:spPr>
          <a:xfrm>
            <a:off x="1028700" y="9035415"/>
            <a:ext cx="16230600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8" name="Google Shape;158;p15"/>
          <p:cNvSpPr txBox="1"/>
          <p:nvPr/>
        </p:nvSpPr>
        <p:spPr>
          <a:xfrm>
            <a:off x="3940712" y="717231"/>
            <a:ext cx="9390780" cy="1083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80000"/>
              </a:lnSpc>
            </a:pPr>
            <a:r>
              <a:rPr lang="en-IN" sz="8800" dirty="0">
                <a:solidFill>
                  <a:srgbClr val="41E0F1"/>
                </a:solidFill>
              </a:rPr>
              <a:t>Features Overview</a:t>
            </a:r>
            <a:endParaRPr sz="8800" b="1" dirty="0">
              <a:solidFill>
                <a:srgbClr val="41E0F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32F43FD-E697-7858-1480-7AFCD6E26238}"/>
              </a:ext>
            </a:extLst>
          </p:cNvPr>
          <p:cNvSpPr txBox="1">
            <a:spLocks/>
          </p:cNvSpPr>
          <p:nvPr/>
        </p:nvSpPr>
        <p:spPr>
          <a:xfrm>
            <a:off x="1028700" y="2011683"/>
            <a:ext cx="13496192" cy="6604780"/>
          </a:xfrm>
          <a:prstGeom prst="rect">
            <a:avLst/>
          </a:prstGeom>
        </p:spPr>
        <p:txBody>
          <a:bodyPr lIns="91439" tIns="45719" rIns="91439" bIns="45719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6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- Standard Calculator Functions</a:t>
            </a:r>
          </a:p>
          <a:p>
            <a:r>
              <a:rPr lang="en-US" sz="6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- Scientific Functions (Trigonometry, Logarithmic, Factorial, etc.)</a:t>
            </a:r>
          </a:p>
          <a:p>
            <a:r>
              <a:rPr lang="en-US" sz="6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- History Panel</a:t>
            </a:r>
          </a:p>
          <a:p>
            <a:r>
              <a:rPr lang="en-US" sz="6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- Multiple Converter Tools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"/>
          <p:cNvSpPr txBox="1"/>
          <p:nvPr/>
        </p:nvSpPr>
        <p:spPr>
          <a:xfrm>
            <a:off x="2026466" y="330554"/>
            <a:ext cx="14936108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IN" sz="9600" dirty="0">
                <a:solidFill>
                  <a:srgbClr val="41E0F1"/>
                </a:solidFill>
              </a:rPr>
              <a:t>Scientific Mode</a:t>
            </a:r>
            <a:endParaRPr lang="en-IN" sz="6600" b="1" dirty="0">
              <a:solidFill>
                <a:srgbClr val="41E0F1"/>
              </a:solidFill>
              <a:latin typeface="Elephant" panose="02020904090505020303" pitchFamily="18" charset="0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1067632" y="2235011"/>
            <a:ext cx="13105567" cy="415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5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- Includes sin, cos, tan, </a:t>
            </a:r>
            <a:r>
              <a:rPr lang="en-US" sz="5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sinh</a:t>
            </a:r>
            <a:r>
              <a:rPr lang="en-US" sz="5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5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cosh</a:t>
            </a:r>
            <a:r>
              <a:rPr lang="en-US" sz="5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, tanh</a:t>
            </a:r>
          </a:p>
          <a:p>
            <a:r>
              <a:rPr lang="en-US" sz="5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- Supports degrees, radians, powers, roots</a:t>
            </a:r>
          </a:p>
          <a:p>
            <a:pPr marL="685800" indent="-685800">
              <a:buFontTx/>
              <a:buChar char="-"/>
            </a:pPr>
            <a:r>
              <a:rPr lang="en-US" sz="5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Additional functions: gamma, log2, log1p</a:t>
            </a:r>
          </a:p>
          <a:p>
            <a:r>
              <a:rPr lang="en-US" sz="5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- Toggle ON/OFF</a:t>
            </a:r>
          </a:p>
          <a:p>
            <a:pPr marL="685800" indent="-685800">
              <a:buFontTx/>
              <a:buChar char="-"/>
            </a:pPr>
            <a:endParaRPr lang="en-US" sz="5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20" name="Google Shape;120;p14"/>
          <p:cNvCxnSpPr/>
          <p:nvPr/>
        </p:nvCxnSpPr>
        <p:spPr>
          <a:xfrm>
            <a:off x="1668780" y="8633102"/>
            <a:ext cx="7722912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407EE3F9-7716-482F-B0BF-FA6297FC444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177" t="90535" r="55855" b="4072"/>
          <a:stretch/>
        </p:blipFill>
        <p:spPr>
          <a:xfrm>
            <a:off x="9144000" y="7025722"/>
            <a:ext cx="5204531" cy="10262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B6250C-D3DA-4B76-B047-5D8F4493875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0429"/>
          <a:stretch/>
        </p:blipFill>
        <p:spPr>
          <a:xfrm>
            <a:off x="2415884" y="7025722"/>
            <a:ext cx="5204531" cy="10262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6"/>
          <p:cNvSpPr txBox="1"/>
          <p:nvPr/>
        </p:nvSpPr>
        <p:spPr>
          <a:xfrm>
            <a:off x="988737" y="1018159"/>
            <a:ext cx="16599854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0"/>
              </a:lnSpc>
            </a:pPr>
            <a:r>
              <a:rPr lang="en-IN" sz="9600" dirty="0">
                <a:solidFill>
                  <a:srgbClr val="41E0F1"/>
                </a:solidFill>
              </a:rPr>
              <a:t>     Additional Tools</a:t>
            </a:r>
            <a:endParaRPr sz="6100" dirty="0">
              <a:solidFill>
                <a:srgbClr val="41E0F1"/>
              </a:solidFill>
              <a:latin typeface="Elephant" panose="02020904090505020303" pitchFamily="18" charset="0"/>
            </a:endParaRPr>
          </a:p>
        </p:txBody>
      </p:sp>
      <p:sp>
        <p:nvSpPr>
          <p:cNvPr id="185" name="Google Shape;185;p16"/>
          <p:cNvSpPr txBox="1"/>
          <p:nvPr/>
        </p:nvSpPr>
        <p:spPr>
          <a:xfrm>
            <a:off x="1189382" y="3792572"/>
            <a:ext cx="14523294" cy="4616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sz="6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- Currency Converter</a:t>
            </a:r>
          </a:p>
          <a:p>
            <a:r>
              <a:rPr lang="en-IN" sz="6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- Length Converter</a:t>
            </a:r>
          </a:p>
          <a:p>
            <a:r>
              <a:rPr lang="en-IN" sz="6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- Temperature Converter</a:t>
            </a:r>
          </a:p>
          <a:p>
            <a:r>
              <a:rPr lang="en-IN" sz="6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- Date Difference Calculator</a:t>
            </a:r>
          </a:p>
          <a:p>
            <a:pPr marL="571495" indent="-571495"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US" sz="6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59F2AF-3CFD-4194-94F4-4D3704ECFD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802" t="45977" r="22955"/>
          <a:stretch/>
        </p:blipFill>
        <p:spPr>
          <a:xfrm>
            <a:off x="6111994" y="7694236"/>
            <a:ext cx="6353340" cy="24941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2344ACD-433E-414B-BB55-CBCA810F8B9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608" t="29296" r="28618" b="-4611"/>
          <a:stretch/>
        </p:blipFill>
        <p:spPr>
          <a:xfrm>
            <a:off x="12970615" y="3584986"/>
            <a:ext cx="5317385" cy="359747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B538356-6F21-4ED7-BBC2-6C961E239C3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8656" t="27615" r="28080"/>
          <a:stretch/>
        </p:blipFill>
        <p:spPr>
          <a:xfrm>
            <a:off x="12674908" y="6850706"/>
            <a:ext cx="5562568" cy="359747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9D519B4-8D30-4FBF-BF1D-F9FF6D5890C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3814" t="24521" r="26851"/>
          <a:stretch/>
        </p:blipFill>
        <p:spPr>
          <a:xfrm>
            <a:off x="12954165" y="319266"/>
            <a:ext cx="5333836" cy="3265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65">
          <a:extLst>
            <a:ext uri="{FF2B5EF4-FFF2-40B4-BE49-F238E27FC236}">
              <a16:creationId xmlns:a16="http://schemas.microsoft.com/office/drawing/2014/main" id="{FF5B351E-8B36-A8B3-290E-1F131250F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3">
            <a:extLst>
              <a:ext uri="{FF2B5EF4-FFF2-40B4-BE49-F238E27FC236}">
                <a16:creationId xmlns:a16="http://schemas.microsoft.com/office/drawing/2014/main" id="{7781EF90-DAA7-7257-A1CE-1C4DD76525F3}"/>
              </a:ext>
            </a:extLst>
          </p:cNvPr>
          <p:cNvSpPr txBox="1"/>
          <p:nvPr/>
        </p:nvSpPr>
        <p:spPr>
          <a:xfrm>
            <a:off x="332426" y="20478"/>
            <a:ext cx="13857104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IN" sz="9600" dirty="0">
                <a:solidFill>
                  <a:srgbClr val="41E0F1"/>
                </a:solidFill>
              </a:rPr>
              <a:t>Backend Logic</a:t>
            </a:r>
          </a:p>
        </p:txBody>
      </p:sp>
      <p:cxnSp>
        <p:nvCxnSpPr>
          <p:cNvPr id="368" name="Google Shape;368;p23">
            <a:extLst>
              <a:ext uri="{FF2B5EF4-FFF2-40B4-BE49-F238E27FC236}">
                <a16:creationId xmlns:a16="http://schemas.microsoft.com/office/drawing/2014/main" id="{28F7F53C-0AB0-9090-8161-6A5604932878}"/>
              </a:ext>
            </a:extLst>
          </p:cNvPr>
          <p:cNvCxnSpPr/>
          <p:nvPr/>
        </p:nvCxnSpPr>
        <p:spPr>
          <a:xfrm>
            <a:off x="4343401" y="10015130"/>
            <a:ext cx="10952242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E25736F-8CC8-7786-85A2-1EC36BD5C7CF}"/>
              </a:ext>
            </a:extLst>
          </p:cNvPr>
          <p:cNvSpPr txBox="1"/>
          <p:nvPr/>
        </p:nvSpPr>
        <p:spPr>
          <a:xfrm>
            <a:off x="509519" y="2588956"/>
            <a:ext cx="15633158" cy="4708979"/>
          </a:xfrm>
          <a:prstGeom prst="rect">
            <a:avLst/>
          </a:prstGeom>
          <a:noFill/>
        </p:spPr>
        <p:txBody>
          <a:bodyPr wrap="square" lIns="91439" tIns="45719" rIns="91439" bIns="45719">
            <a:spAutoFit/>
          </a:bodyPr>
          <a:lstStyle/>
          <a:p>
            <a:r>
              <a:rPr lang="en-US" sz="6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- Uses String Expression Building</a:t>
            </a:r>
          </a:p>
          <a:p>
            <a:r>
              <a:rPr lang="en-US" sz="6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- Replaces math symbols with Python's eval-compatible syntax</a:t>
            </a:r>
          </a:p>
          <a:p>
            <a:r>
              <a:rPr lang="en-US" sz="6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- Uses math module functions</a:t>
            </a:r>
          </a:p>
          <a:p>
            <a:r>
              <a:rPr lang="en-US" sz="6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- Exception handling for errors</a:t>
            </a:r>
          </a:p>
        </p:txBody>
      </p:sp>
    </p:spTree>
    <p:extLst>
      <p:ext uri="{BB962C8B-B14F-4D97-AF65-F5344CB8AC3E}">
        <p14:creationId xmlns:p14="http://schemas.microsoft.com/office/powerpoint/2010/main" val="10204849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E0D288-B4FC-4435-B1C8-C569A6FCA8F2}"/>
              </a:ext>
            </a:extLst>
          </p:cNvPr>
          <p:cNvSpPr txBox="1"/>
          <p:nvPr/>
        </p:nvSpPr>
        <p:spPr>
          <a:xfrm>
            <a:off x="2083982" y="391331"/>
            <a:ext cx="1101533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rgbClr val="41E0F1"/>
                </a:solidFill>
              </a:rPr>
              <a:t>Reference Link</a:t>
            </a:r>
            <a:endParaRPr lang="en-IN" sz="8800" dirty="0">
              <a:solidFill>
                <a:srgbClr val="41E0F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CB27BF-43E8-4CCA-BBE0-A0AA6F38AC73}"/>
              </a:ext>
            </a:extLst>
          </p:cNvPr>
          <p:cNvSpPr txBox="1"/>
          <p:nvPr/>
        </p:nvSpPr>
        <p:spPr>
          <a:xfrm flipH="1">
            <a:off x="942975" y="1837881"/>
            <a:ext cx="14936360" cy="8463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tx2">
                    <a:lumMod val="60000"/>
                    <a:lumOff val="40000"/>
                  </a:schemeClr>
                </a:solidFill>
                <a:hlinkClick r:id="rId2"/>
              </a:rPr>
              <a:t>https://www.geeksforgeeks.org/python/python-simple-gui-calculator-using-tkinter/</a:t>
            </a:r>
            <a:endParaRPr lang="en-IN" sz="3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en-IN" sz="3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tx2">
                    <a:lumMod val="60000"/>
                    <a:lumOff val="40000"/>
                  </a:schemeClr>
                </a:solidFill>
                <a:hlinkClick r:id="rId3"/>
              </a:rPr>
              <a:t>https://www.geeksforgeeks.org/python/scientific-gui-calculator-using-tkinter-in-python/</a:t>
            </a:r>
            <a:endParaRPr lang="en-IN" sz="3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en-IN" sz="3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tx2">
                    <a:lumMod val="60000"/>
                    <a:lumOff val="40000"/>
                  </a:schemeClr>
                </a:solidFill>
                <a:hlinkClick r:id="rId4"/>
              </a:rPr>
              <a:t>https://dev.to/spiff/calculator-with-gui-using-python-tkinter-jpn?utm_source=chatgpt.com</a:t>
            </a:r>
            <a:endParaRPr lang="en-IN" sz="3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en-IN" sz="3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tx2">
                    <a:lumMod val="60000"/>
                    <a:lumOff val="40000"/>
                  </a:schemeClr>
                </a:solidFill>
                <a:hlinkClick r:id="rId5"/>
              </a:rPr>
              <a:t>https://www.freecodecamp.org/news/how-to-build-a-currency-converter-gui-with-tkinter/?utm_source=chatgpt.com</a:t>
            </a:r>
            <a:endParaRPr lang="en-IN" sz="3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en-IN" sz="3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tx2">
                    <a:lumMod val="60000"/>
                    <a:lumOff val="40000"/>
                  </a:schemeClr>
                </a:solidFill>
                <a:hlinkClick r:id="rId6"/>
              </a:rPr>
              <a:t>https://www.pythonguis.com/examples/currency-converter-tkinter/?utm_source=chatgpt.com</a:t>
            </a:r>
            <a:endParaRPr lang="en-IN" sz="3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en-IN" sz="3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tx2">
                    <a:lumMod val="60000"/>
                    <a:lumOff val="40000"/>
                  </a:schemeClr>
                </a:solidFill>
                <a:hlinkClick r:id="rId7"/>
              </a:rPr>
              <a:t>https://www.youtube.com/watch?v=glN87rNH0L8</a:t>
            </a:r>
            <a:endParaRPr lang="en-IN" sz="3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en-IN" sz="3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2729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7"/>
          <p:cNvSpPr txBox="1"/>
          <p:nvPr/>
        </p:nvSpPr>
        <p:spPr>
          <a:xfrm>
            <a:off x="2586396" y="2948463"/>
            <a:ext cx="10372008" cy="609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19800" b="1" dirty="0">
                <a:solidFill>
                  <a:srgbClr val="E0058B"/>
                </a:solidFill>
                <a:latin typeface="DM Sans"/>
                <a:ea typeface="DM Sans"/>
                <a:cs typeface="DM Sans"/>
                <a:sym typeface="DM Sans"/>
              </a:rPr>
              <a:t>Thank You</a:t>
            </a:r>
            <a:endParaRPr sz="45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593</TotalTime>
  <Words>223</Words>
  <Application>Microsoft Office PowerPoint</Application>
  <PresentationFormat>Custom</PresentationFormat>
  <Paragraphs>38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Wingdings</vt:lpstr>
      <vt:lpstr>Arial</vt:lpstr>
      <vt:lpstr>Trebuchet MS</vt:lpstr>
      <vt:lpstr>DM Sans</vt:lpstr>
      <vt:lpstr>Wingdings 2</vt:lpstr>
      <vt:lpstr>Elephant</vt:lpstr>
      <vt:lpstr>Opulent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asus</dc:creator>
  <cp:lastModifiedBy>DELL</cp:lastModifiedBy>
  <cp:revision>23</cp:revision>
  <dcterms:modified xsi:type="dcterms:W3CDTF">2025-12-12T14:52:28Z</dcterms:modified>
</cp:coreProperties>
</file>